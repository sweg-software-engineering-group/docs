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D3D2"/>
    <a:srgbClr val="A7A19E"/>
    <a:srgbClr val="4E423C"/>
    <a:srgbClr val="2121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ED4D13-266C-400F-9B4B-EFF1A7C90336}" v="10" dt="2022-11-14T16:22:27.6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0366" autoAdjust="0"/>
  </p:normalViewPr>
  <p:slideViewPr>
    <p:cSldViewPr snapToGrid="0">
      <p:cViewPr>
        <p:scale>
          <a:sx n="75" d="100"/>
          <a:sy n="75" d="100"/>
        </p:scale>
        <p:origin x="94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vesti" userId="d647de4fd5d777e4" providerId="LiveId" clId="{C6ED4D13-266C-400F-9B4B-EFF1A7C90336}"/>
    <pc:docChg chg="undo custSel modSld">
      <pc:chgData name="Gabriel Rovesti" userId="d647de4fd5d777e4" providerId="LiveId" clId="{C6ED4D13-266C-400F-9B4B-EFF1A7C90336}" dt="2022-11-14T16:26:45.470" v="1969" actId="20577"/>
      <pc:docMkLst>
        <pc:docMk/>
      </pc:docMkLst>
      <pc:sldChg chg="modSp mod">
        <pc:chgData name="Gabriel Rovesti" userId="d647de4fd5d777e4" providerId="LiveId" clId="{C6ED4D13-266C-400F-9B4B-EFF1A7C90336}" dt="2022-11-09T15:03:32.142" v="565" actId="1076"/>
        <pc:sldMkLst>
          <pc:docMk/>
          <pc:sldMk cId="726716261" sldId="256"/>
        </pc:sldMkLst>
        <pc:spChg chg="mod">
          <ac:chgData name="Gabriel Rovesti" userId="d647de4fd5d777e4" providerId="LiveId" clId="{C6ED4D13-266C-400F-9B4B-EFF1A7C90336}" dt="2022-11-09T15:03:32.142" v="565" actId="1076"/>
          <ac:spMkLst>
            <pc:docMk/>
            <pc:sldMk cId="726716261" sldId="256"/>
            <ac:spMk id="3" creationId="{103FBD10-7A89-6591-7B58-09647F8ECF9C}"/>
          </ac:spMkLst>
        </pc:spChg>
      </pc:sldChg>
      <pc:sldChg chg="modSp mod modNotesTx">
        <pc:chgData name="Gabriel Rovesti" userId="d647de4fd5d777e4" providerId="LiveId" clId="{C6ED4D13-266C-400F-9B4B-EFF1A7C90336}" dt="2022-11-14T16:24:10.350" v="1679" actId="20577"/>
        <pc:sldMkLst>
          <pc:docMk/>
          <pc:sldMk cId="992776036" sldId="257"/>
        </pc:sldMkLst>
        <pc:spChg chg="mod">
          <ac:chgData name="Gabriel Rovesti" userId="d647de4fd5d777e4" providerId="LiveId" clId="{C6ED4D13-266C-400F-9B4B-EFF1A7C90336}" dt="2022-11-09T14:52:41.722" v="1" actId="21"/>
          <ac:spMkLst>
            <pc:docMk/>
            <pc:sldMk cId="992776036" sldId="257"/>
            <ac:spMk id="4" creationId="{BBBACC31-3FFE-6CDF-3343-C03AEEAD278A}"/>
          </ac:spMkLst>
        </pc:spChg>
        <pc:spChg chg="mod">
          <ac:chgData name="Gabriel Rovesti" userId="d647de4fd5d777e4" providerId="LiveId" clId="{C6ED4D13-266C-400F-9B4B-EFF1A7C90336}" dt="2022-11-14T16:24:10.350" v="1679" actId="20577"/>
          <ac:spMkLst>
            <pc:docMk/>
            <pc:sldMk cId="992776036" sldId="257"/>
            <ac:spMk id="9" creationId="{35B94C2A-9935-0814-8318-2FC17AD35D24}"/>
          </ac:spMkLst>
        </pc:spChg>
      </pc:sldChg>
      <pc:sldChg chg="modSp mod modNotesTx">
        <pc:chgData name="Gabriel Rovesti" userId="d647de4fd5d777e4" providerId="LiveId" clId="{C6ED4D13-266C-400F-9B4B-EFF1A7C90336}" dt="2022-11-14T16:26:45.470" v="1969" actId="20577"/>
        <pc:sldMkLst>
          <pc:docMk/>
          <pc:sldMk cId="1604451497" sldId="258"/>
        </pc:sldMkLst>
        <pc:spChg chg="mod">
          <ac:chgData name="Gabriel Rovesti" userId="d647de4fd5d777e4" providerId="LiveId" clId="{C6ED4D13-266C-400F-9B4B-EFF1A7C90336}" dt="2022-11-09T14:56:43.111" v="205" actId="20577"/>
          <ac:spMkLst>
            <pc:docMk/>
            <pc:sldMk cId="1604451497" sldId="258"/>
            <ac:spMk id="4" creationId="{BBBACC31-3FFE-6CDF-3343-C03AEEAD278A}"/>
          </ac:spMkLst>
        </pc:spChg>
        <pc:spChg chg="mod">
          <ac:chgData name="Gabriel Rovesti" userId="d647de4fd5d777e4" providerId="LiveId" clId="{C6ED4D13-266C-400F-9B4B-EFF1A7C90336}" dt="2022-11-14T16:00:18.263" v="568" actId="20577"/>
          <ac:spMkLst>
            <pc:docMk/>
            <pc:sldMk cId="1604451497" sldId="258"/>
            <ac:spMk id="9" creationId="{35B94C2A-9935-0814-8318-2FC17AD35D2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28ABE9-64B3-4F1F-9011-BAB92818087D}" type="datetimeFigureOut">
              <a:rPr lang="it-IT" smtClean="0"/>
              <a:t>14/11/2022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D6636D-F3B1-4A9F-A8D4-2C12816FDAE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8800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Glossario: documento che contiene i termini utili per il software finale nella fase di sviluppo, spiegando il significato.</a:t>
            </a:r>
          </a:p>
          <a:p>
            <a:r>
              <a:rPr lang="it-IT" dirty="0"/>
              <a:t>Serve sia agli sviluppatori che agli utenti (linguaggio chiaro e non ambiguo).</a:t>
            </a:r>
          </a:p>
          <a:p>
            <a:endParaRPr lang="it-IT" dirty="0"/>
          </a:p>
          <a:p>
            <a:r>
              <a:rPr lang="it-IT" dirty="0"/>
              <a:t>Requisiti: descrizione analitica (specifica) dei componenti del software e delle fasi di sviluppo</a:t>
            </a:r>
          </a:p>
          <a:p>
            <a:endParaRPr lang="it-IT" dirty="0"/>
          </a:p>
          <a:p>
            <a:r>
              <a:rPr lang="it-IT" dirty="0"/>
              <a:t>Cruscotto visibile che permetta di vedere la scansione temporale (sprint/progressi, etc.), suddivisione degli impegni per un lavoro efficace ed efficiente</a:t>
            </a:r>
          </a:p>
          <a:p>
            <a:endParaRPr lang="it-IT" dirty="0"/>
          </a:p>
          <a:p>
            <a:r>
              <a:rPr lang="it-IT" dirty="0"/>
              <a:t>Descrizione degli incontri interni per tenere traccia delle cose fatte e di quelle da fare</a:t>
            </a:r>
          </a:p>
          <a:p>
            <a:endParaRPr lang="it-IT" dirty="0"/>
          </a:p>
          <a:p>
            <a:r>
              <a:rPr lang="it-IT" dirty="0"/>
              <a:t>Descrizione delle funzionalità esterne all’applicazione (usabilità) e guida su come usarle</a:t>
            </a:r>
          </a:p>
          <a:p>
            <a:r>
              <a:rPr lang="it-IT" dirty="0"/>
              <a:t>Documentazione del codice sorgente (manutenzione)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D6636D-F3B1-4A9F-A8D4-2C12816FDAED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310692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Definire documenti semplici, con un formato standard (cioè, ha già una verifica) e tracciabile (in </a:t>
            </a:r>
            <a:r>
              <a:rPr lang="it-IT"/>
              <a:t>cloud).</a:t>
            </a:r>
          </a:p>
          <a:p>
            <a:endParaRPr lang="it-IT" dirty="0"/>
          </a:p>
          <a:p>
            <a:r>
              <a:rPr lang="it-IT" dirty="0"/>
              <a:t>La documentazione ha un’organizzazione (parte pubblica/privata)</a:t>
            </a:r>
          </a:p>
          <a:p>
            <a:endParaRPr lang="it-IT" dirty="0"/>
          </a:p>
          <a:p>
            <a:r>
              <a:rPr lang="it-IT" dirty="0"/>
              <a:t>Si ha nota dello storico delle versioni e dei ruoli definiti (verificatori/responsabile, etc.)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D6636D-F3B1-4A9F-A8D4-2C12816FDAED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90290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2B261-958D-57E4-66D9-CA2212F8C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DDA936-A99C-14F8-9B4C-CDCBD2E5FF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B58C23-A95C-DDFC-8FDF-0009FC81F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6A06E-F4D4-4BFB-9CBB-798DF4F28D15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379B0-DD4F-6CC6-1268-1E385D27C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5CFC7-B2A1-52BE-3AE8-D502495CA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4A1E-B18B-46A8-A873-1AFD8A03A39E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079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813F2-E815-A3B2-FB2C-C8830F19A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7B1BE-1645-810B-E148-B58ADF753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B2D92-CA70-941D-7A10-DA0875927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6A06E-F4D4-4BFB-9CBB-798DF4F28D15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6692E-52D4-BB7B-9071-E8C53B621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2E754C-08E2-7C57-F0FB-C5F9FA7BC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4A1E-B18B-46A8-A873-1AFD8A03A39E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214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0DECA-27C6-03D4-AF79-8C3442D89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B2A765-075A-4854-3780-17C235D9A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600B30-8201-4F37-B4F1-23502C6A9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6A06E-F4D4-4BFB-9CBB-798DF4F28D15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7361E3-E61D-AF4D-65E9-6F655703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6142-BF63-CF2A-F85B-0D21DEC72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4A1E-B18B-46A8-A873-1AFD8A03A39E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89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66243-7FC9-3E1F-9DBD-BD5A44EA5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1F007-632E-F384-4308-133A8F2DB0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54407B-E9FF-C657-1A70-E930F74FF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0EE62-F390-0AB3-3BA7-6F9E5E9A9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6A06E-F4D4-4BFB-9CBB-798DF4F28D15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952416-848B-B7C0-8596-99D667069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5638AE-10F1-C0DD-5E52-33CB86363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4A1E-B18B-46A8-A873-1AFD8A03A39E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39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5A27A-4CD2-B321-0187-C88FC66B4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7F84E-218C-0F67-ED81-0A274E431D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6546EF-032D-2D02-CC26-BBDA778FE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9B5221-D6A1-5CD0-2FA7-7A8574224E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4335B3-409C-983F-9D21-3AECD4489C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156B7D-8EBF-5497-6F03-BE4E0E324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6A06E-F4D4-4BFB-9CBB-798DF4F28D15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2B6F5B-7888-9B97-6401-DCF182956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D12EF6-9424-53F7-9B08-6C3797486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4A1E-B18B-46A8-A873-1AFD8A03A39E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964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ECF3F-C435-A456-2340-27B6FF265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E958C0-FAE6-2706-FD24-3C71FAF6C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6A06E-F4D4-4BFB-9CBB-798DF4F28D15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6D632D-19A2-E479-60E6-77CE90575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C6BE9C-DE30-FB22-B9AF-4ACC60296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4A1E-B18B-46A8-A873-1AFD8A03A39E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730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3794D7-DAA9-7EF4-05C7-727E8F357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6A06E-F4D4-4BFB-9CBB-798DF4F28D15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71B8DB-0786-E5DA-448C-B86BF565E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07ADB2-A9E7-90F8-B874-27A812FF2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4A1E-B18B-46A8-A873-1AFD8A03A39E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418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D8FDF-4CB4-C701-E0D7-D104715A4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37F6A-9F01-E647-7F49-9026848EA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372674-7515-9182-52A9-0B72078C15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35C69F-AD3B-2D53-C516-DACB9D8E5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6A06E-F4D4-4BFB-9CBB-798DF4F28D15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F5BF1A-543B-ECC6-AFE4-D3EDB7F80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AAB3FE-B665-7BFB-ECB0-42ABA5E9A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4A1E-B18B-46A8-A873-1AFD8A03A39E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940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0EB1F-FD5B-E518-79AA-7A94076A2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C9421A-8AE0-E6F7-0AE3-3E8A5925DC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94D787-4793-FB16-7484-63F2F3C1D3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4F2E5E-ED5F-296A-1355-AE34BEA0C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6A06E-F4D4-4BFB-9CBB-798DF4F28D15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988895-5630-1E41-EE29-ED78B325A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344FBD-A065-C98A-F7D2-E83A7E479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4A1E-B18B-46A8-A873-1AFD8A03A39E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786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F9009-E04A-EE17-5589-B4447C4D9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201EC7-0C23-1F1E-953E-DAC0F375DF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4F4A2-0C8C-51EA-23F6-1F39FFEE3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6A06E-F4D4-4BFB-9CBB-798DF4F28D15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405933-BBB9-0F39-0824-DF3E362E9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1206C7-BC01-0505-D582-99D8D93D5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4A1E-B18B-46A8-A873-1AFD8A03A39E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269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22CC02-D29B-C5AC-15CB-09550E57F3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C5044F-761E-A4CD-599C-6308120DAB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C08C10-5A80-9BBF-9C97-71B2CB9A1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6A06E-F4D4-4BFB-9CBB-798DF4F28D15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7B035-BC46-5F41-DBA9-A578A23B0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F5200-10B4-7CA0-31F6-1B7F545E2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4A1E-B18B-46A8-A873-1AFD8A03A39E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899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4EF491-D16E-ECB5-9547-474C46E61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2518F-5113-F1D6-E946-417C7F317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F1604-F289-B033-4048-B104B720F6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6A06E-F4D4-4BFB-9CBB-798DF4F28D15}" type="datetimeFigureOut">
              <a:rPr lang="en-US" smtClean="0"/>
              <a:t>11/14/2022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C1099E-5944-0CFA-5606-B5FFB08D84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98C194-C575-DD99-B3FC-79869501BD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934A1E-B18B-46A8-A873-1AFD8A03A39E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71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/>
            </a:gs>
            <a:gs pos="100000">
              <a:srgbClr val="21212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Logo&#10;&#10;Description automatically generated">
            <a:extLst>
              <a:ext uri="{FF2B5EF4-FFF2-40B4-BE49-F238E27FC236}">
                <a16:creationId xmlns:a16="http://schemas.microsoft.com/office/drawing/2014/main" id="{9C184F7E-262C-B90E-02E0-79514FEAF6E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87"/>
          <a:stretch/>
        </p:blipFill>
        <p:spPr>
          <a:xfrm>
            <a:off x="3958300" y="2337308"/>
            <a:ext cx="8233698" cy="2218756"/>
          </a:xfrm>
          <a:prstGeom prst="rect">
            <a:avLst/>
          </a:prstGeom>
        </p:spPr>
      </p:pic>
      <p:sp>
        <p:nvSpPr>
          <p:cNvPr id="17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3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2C5409-46BB-AC54-BB44-4965A6DDF8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4858951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rgbClr val="A7A19E"/>
                </a:solidFill>
              </a:rPr>
              <a:t>Documentazione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3FBD10-7A89-6591-7B58-09647F8ECF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845" y="4868822"/>
            <a:ext cx="4858951" cy="1208141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D6D3D2"/>
                </a:solidFill>
              </a:rPr>
              <a:t>Lezione rovesciata 09/11/2022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267162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1"/>
            </a:gs>
            <a:gs pos="100000">
              <a:srgbClr val="212122"/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BACC31-3FFE-6CDF-3343-C03AEEAD2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A7A19E"/>
                </a:solidFill>
              </a:rPr>
              <a:t>Cosa e da dove documentare</a:t>
            </a:r>
          </a:p>
        </p:txBody>
      </p:sp>
      <p:pic>
        <p:nvPicPr>
          <p:cNvPr id="7" name="Content Placeholder 6" descr="Logo&#10;&#10;Description automatically generated">
            <a:extLst>
              <a:ext uri="{FF2B5EF4-FFF2-40B4-BE49-F238E27FC236}">
                <a16:creationId xmlns:a16="http://schemas.microsoft.com/office/drawing/2014/main" id="{EC2E0181-09F2-FEFB-8F97-2EADCE536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0914" y="6018173"/>
            <a:ext cx="1863861" cy="474702"/>
          </a:xfrm>
          <a:ln>
            <a:noFill/>
          </a:ln>
          <a:effectLst>
            <a:reflection blurRad="25400" stA="42000" endPos="40000" dir="5400000" sy="-100000" algn="bl" rotWithShape="0"/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5B94C2A-9935-0814-8318-2FC17AD35D24}"/>
              </a:ext>
            </a:extLst>
          </p:cNvPr>
          <p:cNvSpPr txBox="1"/>
          <p:nvPr/>
        </p:nvSpPr>
        <p:spPr>
          <a:xfrm>
            <a:off x="838201" y="1435050"/>
            <a:ext cx="786334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200" dirty="0">
              <a:solidFill>
                <a:srgbClr val="D6D3D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D6D3D2"/>
                </a:solidFill>
              </a:rPr>
              <a:t>Glossario e termini del dominio d’uso</a:t>
            </a:r>
          </a:p>
          <a:p>
            <a:endParaRPr lang="en-US" sz="2200" dirty="0">
              <a:solidFill>
                <a:srgbClr val="D6D3D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D6D3D2"/>
                </a:solidFill>
              </a:rPr>
              <a:t>Requisiti (lato tecnico: tecnologie, design, codice, test, UX)</a:t>
            </a:r>
          </a:p>
          <a:p>
            <a:endParaRPr lang="en-US" sz="2200" dirty="0">
              <a:solidFill>
                <a:srgbClr val="D6D3D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D6D3D2"/>
                </a:solidFill>
              </a:rPr>
              <a:t>Scansione temporale e impegni</a:t>
            </a:r>
          </a:p>
          <a:p>
            <a:endParaRPr lang="en-US" sz="2200" dirty="0">
              <a:solidFill>
                <a:srgbClr val="D6D3D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D6D3D2"/>
                </a:solidFill>
              </a:rPr>
              <a:t>Stato avanzamento lavori (progressi e difficoltà sprint)</a:t>
            </a:r>
          </a:p>
          <a:p>
            <a:endParaRPr lang="en-US" sz="2200" dirty="0">
              <a:solidFill>
                <a:srgbClr val="D6D3D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D6D3D2"/>
                </a:solidFill>
              </a:rPr>
              <a:t>Incontri con il committente (verbali)</a:t>
            </a:r>
          </a:p>
          <a:p>
            <a:endParaRPr lang="en-US" sz="2200" dirty="0">
              <a:solidFill>
                <a:srgbClr val="D6D3D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D6D3D2"/>
                </a:solidFill>
              </a:rPr>
              <a:t>Manuali (lato utente finale/sysadmin)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D6D3D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D6D3D2"/>
                </a:solidFill>
              </a:rPr>
              <a:t>Documentazione codice </a:t>
            </a:r>
            <a:r>
              <a:rPr lang="en-US" sz="2200" dirty="0" err="1">
                <a:solidFill>
                  <a:srgbClr val="D6D3D2"/>
                </a:solidFill>
              </a:rPr>
              <a:t>sorgente</a:t>
            </a:r>
            <a:endParaRPr lang="en-US" sz="2200" dirty="0">
              <a:solidFill>
                <a:srgbClr val="D6D3D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2776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1"/>
            </a:gs>
            <a:gs pos="100000">
              <a:srgbClr val="212122"/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BACC31-3FFE-6CDF-3343-C03AEEAD2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A7A19E"/>
                </a:solidFill>
              </a:rPr>
              <a:t>Come produrre e quali contenuti</a:t>
            </a:r>
          </a:p>
        </p:txBody>
      </p:sp>
      <p:pic>
        <p:nvPicPr>
          <p:cNvPr id="7" name="Content Placeholder 6" descr="Logo&#10;&#10;Description automatically generated">
            <a:extLst>
              <a:ext uri="{FF2B5EF4-FFF2-40B4-BE49-F238E27FC236}">
                <a16:creationId xmlns:a16="http://schemas.microsoft.com/office/drawing/2014/main" id="{EC2E0181-09F2-FEFB-8F97-2EADCE536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0914" y="6018173"/>
            <a:ext cx="1863861" cy="474702"/>
          </a:xfrm>
          <a:ln>
            <a:noFill/>
          </a:ln>
          <a:effectLst>
            <a:reflection blurRad="25400" stA="42000" endPos="40000" dir="5400000" sy="-100000" algn="bl" rotWithShape="0"/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5B94C2A-9935-0814-8318-2FC17AD35D24}"/>
              </a:ext>
            </a:extLst>
          </p:cNvPr>
          <p:cNvSpPr txBox="1"/>
          <p:nvPr/>
        </p:nvSpPr>
        <p:spPr>
          <a:xfrm>
            <a:off x="838200" y="1690688"/>
            <a:ext cx="1051560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D6D3D2"/>
                </a:solidFill>
              </a:rPr>
              <a:t>Linguaggio semplice ma tecnico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D6D3D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D6D3D2"/>
                </a:solidFill>
              </a:rPr>
              <a:t>Con obiettivi e ruoli specifici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D6D3D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D6D3D2"/>
                </a:solidFill>
              </a:rPr>
              <a:t>Template di riferimento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D6D3D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D6D3D2"/>
                </a:solidFill>
              </a:rPr>
              <a:t>Workflow, versionamento e verifica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D6D3D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D6D3D2"/>
                </a:solidFill>
              </a:rPr>
              <a:t>Repository nel cloud</a:t>
            </a:r>
          </a:p>
        </p:txBody>
      </p:sp>
    </p:spTree>
    <p:extLst>
      <p:ext uri="{BB962C8B-B14F-4D97-AF65-F5344CB8AC3E}">
        <p14:creationId xmlns:p14="http://schemas.microsoft.com/office/powerpoint/2010/main" val="16044514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WEG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4E423C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0</TotalTime>
  <Words>249</Words>
  <Application>Microsoft Office PowerPoint</Application>
  <PresentationFormat>Widescreen</PresentationFormat>
  <Paragraphs>45</Paragraphs>
  <Slides>3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Documentazione</vt:lpstr>
      <vt:lpstr>Cosa e da dove documentare</vt:lpstr>
      <vt:lpstr>Come produrre e quali contenuti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Placeholder Titolo</dc:title>
  <dc:creator>Davide Milan</dc:creator>
  <cp:lastModifiedBy>Gabriel Rovesti</cp:lastModifiedBy>
  <cp:revision>3</cp:revision>
  <dcterms:created xsi:type="dcterms:W3CDTF">2022-10-24T17:05:38Z</dcterms:created>
  <dcterms:modified xsi:type="dcterms:W3CDTF">2022-11-14T16:26:48Z</dcterms:modified>
</cp:coreProperties>
</file>